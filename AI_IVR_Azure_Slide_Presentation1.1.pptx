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6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F5CFD5-4E55-D445-AF00-F91C818EB879}" v="34" dt="2026-02-11T12:30:46.0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97"/>
  </p:normalViewPr>
  <p:slideViewPr>
    <p:cSldViewPr snapToGrid="0" snapToObjects="1">
      <p:cViewPr varScale="1">
        <p:scale>
          <a:sx n="119" d="100"/>
          <a:sy n="119" d="100"/>
        </p:scale>
        <p:origin x="12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a, Shivam" userId="1a281936-4039-4e3c-9ca6-fef78b499b4d" providerId="ADAL" clId="{25C4E5D3-AA60-51D7-9590-AF84E822FD4F}"/>
    <pc:docChg chg="undo custSel mod modSld">
      <pc:chgData name="Rana, Shivam" userId="1a281936-4039-4e3c-9ca6-fef78b499b4d" providerId="ADAL" clId="{25C4E5D3-AA60-51D7-9590-AF84E822FD4F}" dt="2026-02-11T12:31:13.113" v="110" actId="27636"/>
      <pc:docMkLst>
        <pc:docMk/>
      </pc:docMkLst>
      <pc:sldChg chg="modSp mod">
        <pc:chgData name="Rana, Shivam" userId="1a281936-4039-4e3c-9ca6-fef78b499b4d" providerId="ADAL" clId="{25C4E5D3-AA60-51D7-9590-AF84E822FD4F}" dt="2026-02-11T12:31:05.878" v="108" actId="20577"/>
        <pc:sldMkLst>
          <pc:docMk/>
          <pc:sldMk cId="0" sldId="256"/>
        </pc:sldMkLst>
        <pc:spChg chg="mod">
          <ac:chgData name="Rana, Shivam" userId="1a281936-4039-4e3c-9ca6-fef78b499b4d" providerId="ADAL" clId="{25C4E5D3-AA60-51D7-9590-AF84E822FD4F}" dt="2026-02-11T12:31:05.878" v="108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Rana, Shivam" userId="1a281936-4039-4e3c-9ca6-fef78b499b4d" providerId="ADAL" clId="{25C4E5D3-AA60-51D7-9590-AF84E822FD4F}" dt="2026-02-11T12:31:13.113" v="110" actId="27636"/>
        <pc:sldMkLst>
          <pc:docMk/>
          <pc:sldMk cId="0" sldId="261"/>
        </pc:sldMkLst>
        <pc:spChg chg="mod">
          <ac:chgData name="Rana, Shivam" userId="1a281936-4039-4e3c-9ca6-fef78b499b4d" providerId="ADAL" clId="{25C4E5D3-AA60-51D7-9590-AF84E822FD4F}" dt="2026-02-11T12:31:13.113" v="110" actId="27636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Rana, Shivam" userId="1a281936-4039-4e3c-9ca6-fef78b499b4d" providerId="ADAL" clId="{25C4E5D3-AA60-51D7-9590-AF84E822FD4F}" dt="2026-02-11T12:30:54.992" v="106" actId="27636"/>
        <pc:sldMkLst>
          <pc:docMk/>
          <pc:sldMk cId="0" sldId="262"/>
        </pc:sldMkLst>
        <pc:spChg chg="mod">
          <ac:chgData name="Rana, Shivam" userId="1a281936-4039-4e3c-9ca6-fef78b499b4d" providerId="ADAL" clId="{25C4E5D3-AA60-51D7-9590-AF84E822FD4F}" dt="2026-02-11T12:30:54.992" v="106" actId="27636"/>
          <ac:spMkLst>
            <pc:docMk/>
            <pc:sldMk cId="0" sldId="262"/>
            <ac:spMk id="2" creationId="{00000000-0000-0000-0000-000000000000}"/>
          </ac:spMkLst>
        </pc:spChg>
      </pc:sldChg>
      <pc:sldChg chg="addSp delSp modSp mod">
        <pc:chgData name="Rana, Shivam" userId="1a281936-4039-4e3c-9ca6-fef78b499b4d" providerId="ADAL" clId="{25C4E5D3-AA60-51D7-9590-AF84E822FD4F}" dt="2026-02-11T12:30:46.071" v="104" actId="1038"/>
        <pc:sldMkLst>
          <pc:docMk/>
          <pc:sldMk cId="0" sldId="263"/>
        </pc:sldMkLst>
        <pc:spChg chg="del">
          <ac:chgData name="Rana, Shivam" userId="1a281936-4039-4e3c-9ca6-fef78b499b4d" providerId="ADAL" clId="{25C4E5D3-AA60-51D7-9590-AF84E822FD4F}" dt="2026-02-11T12:28:01.162" v="71" actId="478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Rana, Shivam" userId="1a281936-4039-4e3c-9ca6-fef78b499b4d" providerId="ADAL" clId="{25C4E5D3-AA60-51D7-9590-AF84E822FD4F}" dt="2026-02-11T12:30:46.071" v="104" actId="1038"/>
          <ac:spMkLst>
            <pc:docMk/>
            <pc:sldMk cId="0" sldId="263"/>
            <ac:spMk id="5" creationId="{F35957F0-7F83-4254-C6A7-F8FA8585734C}"/>
          </ac:spMkLst>
        </pc:spChg>
        <pc:grpChg chg="add mod">
          <ac:chgData name="Rana, Shivam" userId="1a281936-4039-4e3c-9ca6-fef78b499b4d" providerId="ADAL" clId="{25C4E5D3-AA60-51D7-9590-AF84E822FD4F}" dt="2026-02-11T12:30:46.071" v="104" actId="1038"/>
          <ac:grpSpMkLst>
            <pc:docMk/>
            <pc:sldMk cId="0" sldId="263"/>
            <ac:grpSpMk id="6" creationId="{B929DC33-6710-6D72-3521-1D0C84CD0375}"/>
          </ac:grpSpMkLst>
        </pc:grpChg>
        <pc:picChg chg="del">
          <ac:chgData name="Rana, Shivam" userId="1a281936-4039-4e3c-9ca6-fef78b499b4d" providerId="ADAL" clId="{25C4E5D3-AA60-51D7-9590-AF84E822FD4F}" dt="2026-02-11T12:27:56.078" v="69" actId="478"/>
          <ac:picMkLst>
            <pc:docMk/>
            <pc:sldMk cId="0" sldId="263"/>
            <ac:picMk id="3" creationId="{00000000-0000-0000-0000-000000000000}"/>
          </ac:picMkLst>
        </pc:picChg>
        <pc:picChg chg="add mod">
          <ac:chgData name="Rana, Shivam" userId="1a281936-4039-4e3c-9ca6-fef78b499b4d" providerId="ADAL" clId="{25C4E5D3-AA60-51D7-9590-AF84E822FD4F}" dt="2026-02-11T12:30:46.071" v="104" actId="1038"/>
          <ac:picMkLst>
            <pc:docMk/>
            <pc:sldMk cId="0" sldId="263"/>
            <ac:picMk id="4098" creationId="{9F69EB7A-8C11-7C5D-EC89-067D3873F885}"/>
          </ac:picMkLst>
        </pc:picChg>
      </pc:sldChg>
      <pc:sldChg chg="addSp delSp modSp mod">
        <pc:chgData name="Rana, Shivam" userId="1a281936-4039-4e3c-9ca6-fef78b499b4d" providerId="ADAL" clId="{25C4E5D3-AA60-51D7-9590-AF84E822FD4F}" dt="2026-02-11T12:20:47.522" v="68" actId="732"/>
        <pc:sldMkLst>
          <pc:docMk/>
          <pc:sldMk cId="0" sldId="264"/>
        </pc:sldMkLst>
        <pc:spChg chg="del mod">
          <ac:chgData name="Rana, Shivam" userId="1a281936-4039-4e3c-9ca6-fef78b499b4d" providerId="ADAL" clId="{25C4E5D3-AA60-51D7-9590-AF84E822FD4F}" dt="2026-02-11T12:19:22.680" v="59" actId="478"/>
          <ac:spMkLst>
            <pc:docMk/>
            <pc:sldMk cId="0" sldId="264"/>
            <ac:spMk id="4" creationId="{00000000-0000-0000-0000-000000000000}"/>
          </ac:spMkLst>
        </pc:spChg>
        <pc:picChg chg="del">
          <ac:chgData name="Rana, Shivam" userId="1a281936-4039-4e3c-9ca6-fef78b499b4d" providerId="ADAL" clId="{25C4E5D3-AA60-51D7-9590-AF84E822FD4F}" dt="2026-02-11T12:20:03.187" v="60" actId="478"/>
          <ac:picMkLst>
            <pc:docMk/>
            <pc:sldMk cId="0" sldId="264"/>
            <ac:picMk id="3" creationId="{00000000-0000-0000-0000-000000000000}"/>
          </ac:picMkLst>
        </pc:picChg>
        <pc:picChg chg="add mod">
          <ac:chgData name="Rana, Shivam" userId="1a281936-4039-4e3c-9ca6-fef78b499b4d" providerId="ADAL" clId="{25C4E5D3-AA60-51D7-9590-AF84E822FD4F}" dt="2026-02-11T12:20:47.522" v="68" actId="732"/>
          <ac:picMkLst>
            <pc:docMk/>
            <pc:sldMk cId="0" sldId="264"/>
            <ac:picMk id="3074" creationId="{230EE0EA-9996-501B-A1D5-2D430A2186D6}"/>
          </ac:picMkLst>
        </pc:picChg>
      </pc:sldChg>
      <pc:sldChg chg="addSp delSp modSp mod">
        <pc:chgData name="Rana, Shivam" userId="1a281936-4039-4e3c-9ca6-fef78b499b4d" providerId="ADAL" clId="{25C4E5D3-AA60-51D7-9590-AF84E822FD4F}" dt="2026-02-11T12:18:32.773" v="58" actId="164"/>
        <pc:sldMkLst>
          <pc:docMk/>
          <pc:sldMk cId="0" sldId="265"/>
        </pc:sldMkLst>
        <pc:spChg chg="mod">
          <ac:chgData name="Rana, Shivam" userId="1a281936-4039-4e3c-9ca6-fef78b499b4d" providerId="ADAL" clId="{25C4E5D3-AA60-51D7-9590-AF84E822FD4F}" dt="2026-02-11T12:15:03.829" v="47" actId="20577"/>
          <ac:spMkLst>
            <pc:docMk/>
            <pc:sldMk cId="0" sldId="265"/>
            <ac:spMk id="2" creationId="{00000000-0000-0000-0000-000000000000}"/>
          </ac:spMkLst>
        </pc:spChg>
        <pc:spChg chg="add mod">
          <ac:chgData name="Rana, Shivam" userId="1a281936-4039-4e3c-9ca6-fef78b499b4d" providerId="ADAL" clId="{25C4E5D3-AA60-51D7-9590-AF84E822FD4F}" dt="2026-02-11T12:18:32.773" v="58" actId="164"/>
          <ac:spMkLst>
            <pc:docMk/>
            <pc:sldMk cId="0" sldId="265"/>
            <ac:spMk id="5" creationId="{258A1BCA-C23D-E91E-F381-1523062BCF4C}"/>
          </ac:spMkLst>
        </pc:spChg>
        <pc:spChg chg="add mod">
          <ac:chgData name="Rana, Shivam" userId="1a281936-4039-4e3c-9ca6-fef78b499b4d" providerId="ADAL" clId="{25C4E5D3-AA60-51D7-9590-AF84E822FD4F}" dt="2026-02-11T12:18:32.773" v="58" actId="164"/>
          <ac:spMkLst>
            <pc:docMk/>
            <pc:sldMk cId="0" sldId="265"/>
            <ac:spMk id="6" creationId="{C220CE99-58BB-E479-430B-43035F3D78BE}"/>
          </ac:spMkLst>
        </pc:spChg>
        <pc:grpChg chg="add mod">
          <ac:chgData name="Rana, Shivam" userId="1a281936-4039-4e3c-9ca6-fef78b499b4d" providerId="ADAL" clId="{25C4E5D3-AA60-51D7-9590-AF84E822FD4F}" dt="2026-02-11T12:18:32.773" v="58" actId="164"/>
          <ac:grpSpMkLst>
            <pc:docMk/>
            <pc:sldMk cId="0" sldId="265"/>
            <ac:grpSpMk id="7" creationId="{50455501-4F6D-C9C1-2338-F2C6570B2E28}"/>
          </ac:grpSpMkLst>
        </pc:grpChg>
        <pc:picChg chg="del">
          <ac:chgData name="Rana, Shivam" userId="1a281936-4039-4e3c-9ca6-fef78b499b4d" providerId="ADAL" clId="{25C4E5D3-AA60-51D7-9590-AF84E822FD4F}" dt="2026-02-11T12:14:49.848" v="34" actId="478"/>
          <ac:picMkLst>
            <pc:docMk/>
            <pc:sldMk cId="0" sldId="265"/>
            <ac:picMk id="3" creationId="{00000000-0000-0000-0000-000000000000}"/>
          </ac:picMkLst>
        </pc:picChg>
        <pc:picChg chg="add mod">
          <ac:chgData name="Rana, Shivam" userId="1a281936-4039-4e3c-9ca6-fef78b499b4d" providerId="ADAL" clId="{25C4E5D3-AA60-51D7-9590-AF84E822FD4F}" dt="2026-02-11T12:18:32.773" v="58" actId="164"/>
          <ac:picMkLst>
            <pc:docMk/>
            <pc:sldMk cId="0" sldId="265"/>
            <ac:picMk id="2050" creationId="{5FEA726B-8187-EBC1-721A-A24EEF2B7083}"/>
          </ac:picMkLst>
        </pc:picChg>
      </pc:sldChg>
      <pc:sldChg chg="addSp delSp modSp mod">
        <pc:chgData name="Rana, Shivam" userId="1a281936-4039-4e3c-9ca6-fef78b499b4d" providerId="ADAL" clId="{25C4E5D3-AA60-51D7-9590-AF84E822FD4F}" dt="2026-02-11T12:10:21.469" v="33" actId="27636"/>
        <pc:sldMkLst>
          <pc:docMk/>
          <pc:sldMk cId="0" sldId="266"/>
        </pc:sldMkLst>
        <pc:spChg chg="mod">
          <ac:chgData name="Rana, Shivam" userId="1a281936-4039-4e3c-9ca6-fef78b499b4d" providerId="ADAL" clId="{25C4E5D3-AA60-51D7-9590-AF84E822FD4F}" dt="2026-02-11T12:06:32.442" v="26" actId="20577"/>
          <ac:spMkLst>
            <pc:docMk/>
            <pc:sldMk cId="0" sldId="266"/>
            <ac:spMk id="2" creationId="{00000000-0000-0000-0000-000000000000}"/>
          </ac:spMkLst>
        </pc:spChg>
        <pc:picChg chg="del">
          <ac:chgData name="Rana, Shivam" userId="1a281936-4039-4e3c-9ca6-fef78b499b4d" providerId="ADAL" clId="{25C4E5D3-AA60-51D7-9590-AF84E822FD4F}" dt="2026-02-11T12:10:19.629" v="27" actId="478"/>
          <ac:picMkLst>
            <pc:docMk/>
            <pc:sldMk cId="0" sldId="266"/>
            <ac:picMk id="3" creationId="{00000000-0000-0000-0000-000000000000}"/>
          </ac:picMkLst>
        </pc:picChg>
        <pc:picChg chg="add mod">
          <ac:chgData name="Rana, Shivam" userId="1a281936-4039-4e3c-9ca6-fef78b499b4d" providerId="ADAL" clId="{25C4E5D3-AA60-51D7-9590-AF84E822FD4F}" dt="2026-02-11T12:10:21.469" v="33" actId="27636"/>
          <ac:picMkLst>
            <pc:docMk/>
            <pc:sldMk cId="0" sldId="266"/>
            <ac:picMk id="1026" creationId="{8E19DE7D-E071-22C8-4A18-863DBEBEE274}"/>
          </ac:picMkLst>
        </pc:picChg>
      </pc:sldChg>
      <pc:sldChg chg="modSp mod">
        <pc:chgData name="Rana, Shivam" userId="1a281936-4039-4e3c-9ca6-fef78b499b4d" providerId="ADAL" clId="{25C4E5D3-AA60-51D7-9590-AF84E822FD4F}" dt="2026-02-11T12:02:05.703" v="11" actId="27636"/>
        <pc:sldMkLst>
          <pc:docMk/>
          <pc:sldMk cId="0" sldId="269"/>
        </pc:sldMkLst>
        <pc:spChg chg="mod">
          <ac:chgData name="Rana, Shivam" userId="1a281936-4039-4e3c-9ca6-fef78b499b4d" providerId="ADAL" clId="{25C4E5D3-AA60-51D7-9590-AF84E822FD4F}" dt="2026-02-11T12:02:05.703" v="11" actId="27636"/>
          <ac:spMkLst>
            <pc:docMk/>
            <pc:sldMk cId="0" sldId="269"/>
            <ac:spMk id="6" creationId="{92FA648B-B982-942F-DF2C-1019FF866F71}"/>
          </ac:spMkLst>
        </pc:spChg>
      </pc:sldChg>
      <pc:sldChg chg="modSp mod">
        <pc:chgData name="Rana, Shivam" userId="1a281936-4039-4e3c-9ca6-fef78b499b4d" providerId="ADAL" clId="{25C4E5D3-AA60-51D7-9590-AF84E822FD4F}" dt="2026-02-11T12:01:30.914" v="2" actId="1076"/>
        <pc:sldMkLst>
          <pc:docMk/>
          <pc:sldMk cId="1519805707" sldId="274"/>
        </pc:sldMkLst>
        <pc:graphicFrameChg chg="mod">
          <ac:chgData name="Rana, Shivam" userId="1a281936-4039-4e3c-9ca6-fef78b499b4d" providerId="ADAL" clId="{25C4E5D3-AA60-51D7-9590-AF84E822FD4F}" dt="2026-02-11T12:01:30.914" v="2" actId="1076"/>
          <ac:graphicFrameMkLst>
            <pc:docMk/>
            <pc:sldMk cId="1519805707" sldId="274"/>
            <ac:graphicFrameMk id="3" creationId="{26EE60EF-6A47-FAA8-057F-697CD8AEFCE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59C440-D3E9-1940-9C99-C72300CF2143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8653D-4AD9-6D43-8B97-FC2280139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9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8653D-4AD9-6D43-8B97-FC22801391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8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8653D-4AD9-6D43-8B97-FC228013917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32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IVR Automation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Business Flow, Architecture &amp; Execution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customer conversations using AI IVR</a:t>
            </a:r>
          </a:p>
          <a:p>
            <a:pPr lvl="1"/>
            <a:r>
              <a:t>Reduce human dependency while improving experience</a:t>
            </a:r>
          </a:p>
          <a:p>
            <a:pPr lvl="1"/>
            <a:r>
              <a:t>Enable secure, scalable, compliant voice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96862"/>
            <a:ext cx="8229600" cy="1143000"/>
          </a:xfrm>
        </p:spPr>
        <p:txBody>
          <a:bodyPr/>
          <a:lstStyle/>
          <a:p>
            <a:r>
              <a:rPr dirty="0"/>
              <a:t>Customer Journey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407624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 lifecycle from awareness to repeat engagement.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27F8D5-485A-8EA5-1152-CF64AB223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715" y="532333"/>
            <a:ext cx="4650609" cy="58099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382" y="-296862"/>
            <a:ext cx="8229600" cy="1143000"/>
          </a:xfrm>
        </p:spPr>
        <p:txBody>
          <a:bodyPr/>
          <a:lstStyle/>
          <a:p>
            <a:r>
              <a:rPr dirty="0"/>
              <a:t>Lead Generation Funnel</a:t>
            </a:r>
          </a:p>
        </p:txBody>
      </p:sp>
      <p:pic>
        <p:nvPicPr>
          <p:cNvPr id="3" name="Picture 2" descr="lead-generation-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555" y="696579"/>
            <a:ext cx="5854889" cy="59938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4334" y="6370394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Awareness → Interest → Action → Conversion funnel.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914" y="-296862"/>
            <a:ext cx="8229600" cy="1143000"/>
          </a:xfrm>
        </p:spPr>
        <p:txBody>
          <a:bodyPr/>
          <a:lstStyle/>
          <a:p>
            <a:r>
              <a:rPr dirty="0"/>
              <a:t>AI IVR Call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7143" y="6379029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Verification, AI handling, and agent fallback flow.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1E8AFF-5621-D51C-E999-25F34A958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6" y="716496"/>
            <a:ext cx="5432895" cy="52162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Modern IVR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5891" y="6396182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IVR with Azure Communication Services, CRM, Azure Monitor, APIs.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E8706-0A72-A965-E295-391F35989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1509642"/>
            <a:ext cx="8131629" cy="47773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Cloud Telephony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79678" y="5943282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PSTN, IVR server, and recording services.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D71C0-2E4D-F9A9-6647-2ADD49A35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394" y="1529914"/>
            <a:ext cx="7629707" cy="3992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Azure Communication Services Routing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29DC33-6710-6D72-3521-1D0C84CD0375}"/>
              </a:ext>
            </a:extLst>
          </p:cNvPr>
          <p:cNvGrpSpPr/>
          <p:nvPr/>
        </p:nvGrpSpPr>
        <p:grpSpPr>
          <a:xfrm>
            <a:off x="231224" y="1639613"/>
            <a:ext cx="8881242" cy="3615559"/>
            <a:chOff x="136634" y="1639613"/>
            <a:chExt cx="8881242" cy="3615559"/>
          </a:xfrm>
        </p:grpSpPr>
        <p:pic>
          <p:nvPicPr>
            <p:cNvPr id="4098" name="Picture 2" descr="Integrate an OpenAI bot with chat - An Azure Communication Services article  | Microsoft Learn">
              <a:extLst>
                <a:ext uri="{FF2B5EF4-FFF2-40B4-BE49-F238E27FC236}">
                  <a16:creationId xmlns:a16="http://schemas.microsoft.com/office/drawing/2014/main" id="{9F69EB7A-8C11-7C5D-EC89-067D3873F8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4" t="3500" r="1379" b="2504"/>
            <a:stretch>
              <a:fillRect/>
            </a:stretch>
          </p:blipFill>
          <p:spPr bwMode="auto">
            <a:xfrm>
              <a:off x="136634" y="1639613"/>
              <a:ext cx="8881242" cy="3615559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35957F0-7F83-4254-C6A7-F8FA8585734C}"/>
                </a:ext>
              </a:extLst>
            </p:cNvPr>
            <p:cNvSpPr/>
            <p:nvPr/>
          </p:nvSpPr>
          <p:spPr>
            <a:xfrm>
              <a:off x="4361793" y="1996966"/>
              <a:ext cx="798786" cy="2102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97310"/>
            <a:ext cx="8229600" cy="1143000"/>
          </a:xfrm>
        </p:spPr>
        <p:txBody>
          <a:bodyPr/>
          <a:lstStyle/>
          <a:p>
            <a:r>
              <a:rPr dirty="0"/>
              <a:t>Azure 3-Tier Architecture</a:t>
            </a:r>
          </a:p>
        </p:txBody>
      </p:sp>
      <p:pic>
        <p:nvPicPr>
          <p:cNvPr id="3074" name="Picture 2" descr="3-tier architecture - Microsoft Q&amp;A">
            <a:extLst>
              <a:ext uri="{FF2B5EF4-FFF2-40B4-BE49-F238E27FC236}">
                <a16:creationId xmlns:a16="http://schemas.microsoft.com/office/drawing/2014/main" id="{230EE0EA-9996-501B-A1D5-2D430A2186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" t="2176" r="2298" b="4933"/>
          <a:stretch>
            <a:fillRect/>
          </a:stretch>
        </p:blipFill>
        <p:spPr bwMode="auto">
          <a:xfrm>
            <a:off x="136634" y="1177159"/>
            <a:ext cx="8797159" cy="4372303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87846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Microservices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9674" y="6134986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Containerized services with independent scaling.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455501-4F6D-C9C1-2338-F2C6570B2E28}"/>
              </a:ext>
            </a:extLst>
          </p:cNvPr>
          <p:cNvGrpSpPr/>
          <p:nvPr/>
        </p:nvGrpSpPr>
        <p:grpSpPr>
          <a:xfrm>
            <a:off x="0" y="1055154"/>
            <a:ext cx="9144000" cy="5740932"/>
            <a:chOff x="0" y="1055154"/>
            <a:chExt cx="9144000" cy="5740932"/>
          </a:xfrm>
        </p:grpSpPr>
        <p:pic>
          <p:nvPicPr>
            <p:cNvPr id="2050" name="Picture 2" descr="How could you implement microservices in practice with Node.js, Docker 🚀  in Azure with 💪 Bicep power ⁉ 🤔 – Cloud Marathoner's Journey">
              <a:extLst>
                <a:ext uri="{FF2B5EF4-FFF2-40B4-BE49-F238E27FC236}">
                  <a16:creationId xmlns:a16="http://schemas.microsoft.com/office/drawing/2014/main" id="{5FEA726B-8187-EBC1-721A-A24EEF2B70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055154"/>
              <a:ext cx="9144000" cy="54710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58A1BCA-C23D-E91E-F381-1523062BCF4C}"/>
                </a:ext>
              </a:extLst>
            </p:cNvPr>
            <p:cNvSpPr/>
            <p:nvPr/>
          </p:nvSpPr>
          <p:spPr>
            <a:xfrm>
              <a:off x="94593" y="4298730"/>
              <a:ext cx="4351283" cy="24973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220CE99-58BB-E479-430B-43035F3D78BE}"/>
                </a:ext>
              </a:extLst>
            </p:cNvPr>
            <p:cNvSpPr/>
            <p:nvPr/>
          </p:nvSpPr>
          <p:spPr>
            <a:xfrm>
              <a:off x="2270234" y="4461640"/>
              <a:ext cx="2611821" cy="640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CI/CD Pipeline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5367" y="5911384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Automated build, test, and deployment pipeline.</a:t>
            </a:r>
          </a:p>
        </p:txBody>
      </p:sp>
      <p:pic>
        <p:nvPicPr>
          <p:cNvPr id="1026" name="Picture 2" descr="Design and Build a CI/CD pipeline using Azure DevOps">
            <a:extLst>
              <a:ext uri="{FF2B5EF4-FFF2-40B4-BE49-F238E27FC236}">
                <a16:creationId xmlns:a16="http://schemas.microsoft.com/office/drawing/2014/main" id="{8E19DE7D-E071-22C8-4A18-863DBEBEE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2225"/>
            <a:ext cx="9144000" cy="427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Phase-wise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Lead capture &amp; IVR entry</a:t>
            </a:r>
          </a:p>
          <a:p>
            <a:pPr lvl="1"/>
            <a:r>
              <a:t>Phase 2: AI qualification &amp; booking</a:t>
            </a:r>
          </a:p>
          <a:p>
            <a:pPr lvl="1"/>
            <a:r>
              <a:t>Phase 3: Compliance confirmations</a:t>
            </a:r>
          </a:p>
          <a:p>
            <a:pPr lvl="1"/>
            <a:r>
              <a:t>Phase 4: Orders, payments &amp; logistics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Encrypted communication</a:t>
            </a:r>
          </a:p>
          <a:p>
            <a:pPr lvl="1"/>
            <a:r>
              <a:t>Consent-based recordings</a:t>
            </a:r>
          </a:p>
          <a:p>
            <a:pPr lvl="1"/>
            <a:r>
              <a:t>Audit logs and traceability</a:t>
            </a:r>
          </a:p>
          <a:p>
            <a:pPr lvl="1"/>
            <a:r>
              <a:t>Role-based access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Executive Cost Summary (INR) – Azure – Azure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FA648B-B982-942F-DF2C-1019FF866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/>
          </a:bodyPr>
          <a:lstStyle/>
          <a:p>
            <a:r>
              <a:rPr dirty="0"/>
              <a:t>Total Estimated Cost (First Year)</a:t>
            </a:r>
          </a:p>
          <a:p>
            <a:pPr lvl="1"/>
            <a:r>
              <a:rPr dirty="0"/>
              <a:t>• Team Cost (8 members × 5 months): ₹</a:t>
            </a:r>
            <a:r>
              <a:rPr lang="en-IN" dirty="0"/>
              <a:t>65</a:t>
            </a:r>
            <a:r>
              <a:rPr dirty="0"/>
              <a:t>,00,000</a:t>
            </a:r>
          </a:p>
          <a:p>
            <a:pPr lvl="1"/>
            <a:r>
              <a:rPr dirty="0"/>
              <a:t>• One-time Technology &amp; Setup Cost: ₹</a:t>
            </a:r>
            <a:r>
              <a:rPr lang="en-IN" dirty="0"/>
              <a:t>4</a:t>
            </a:r>
            <a:r>
              <a:rPr dirty="0"/>
              <a:t>,50,000</a:t>
            </a:r>
          </a:p>
          <a:p>
            <a:pPr lvl="1"/>
            <a:r>
              <a:rPr dirty="0"/>
              <a:t>• First-Year Azure Cloud &amp; AI Operations: ₹</a:t>
            </a:r>
            <a:r>
              <a:rPr lang="en-IN" dirty="0"/>
              <a:t>5</a:t>
            </a:r>
            <a:r>
              <a:rPr dirty="0"/>
              <a:t>,</a:t>
            </a:r>
            <a:r>
              <a:rPr lang="en-IN" dirty="0"/>
              <a:t>5</a:t>
            </a:r>
            <a:r>
              <a:rPr dirty="0"/>
              <a:t>0,000</a:t>
            </a:r>
            <a:endParaRPr lang="en-US" dirty="0"/>
          </a:p>
          <a:p>
            <a:pPr lvl="1"/>
            <a:endParaRPr dirty="0"/>
          </a:p>
          <a:p>
            <a:r>
              <a:rPr dirty="0"/>
              <a:t>NET TOTAL PROJECT COST: ₹</a:t>
            </a:r>
            <a:r>
              <a:rPr lang="en-IN" dirty="0"/>
              <a:t>75</a:t>
            </a:r>
            <a:r>
              <a:rPr dirty="0"/>
              <a:t>,</a:t>
            </a:r>
            <a:r>
              <a:rPr lang="en-IN" dirty="0"/>
              <a:t>0</a:t>
            </a:r>
            <a:r>
              <a:rPr dirty="0"/>
              <a:t>0,000 (Approx.)</a:t>
            </a:r>
          </a:p>
          <a:p>
            <a:pPr lvl="1"/>
            <a:r>
              <a:rPr dirty="0"/>
              <a:t>Includes complete build, deployment, and first-year operation on Azure on Azure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E0B625-13EB-9625-6AB7-0B53DB712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119672"/>
              </p:ext>
            </p:extLst>
          </p:nvPr>
        </p:nvGraphicFramePr>
        <p:xfrm>
          <a:off x="0" y="1331610"/>
          <a:ext cx="9144000" cy="5434948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401981042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95794493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01700822"/>
                    </a:ext>
                  </a:extLst>
                </a:gridCol>
              </a:tblGrid>
              <a:tr h="452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Cost (USD)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 (INR approx)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57078"/>
                  </a:ext>
                </a:extLst>
              </a:tr>
              <a:tr h="452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Landing page design &amp; dev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+mn-lt"/>
                        </a:rPr>
                        <a:t>$1,500 – $2,500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₹1.2 – 2 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791233"/>
                  </a:ext>
                </a:extLst>
              </a:tr>
              <a:tr h="452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Lead form + consent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+mn-lt"/>
                        </a:rPr>
                        <a:t>$500 – $1,000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₹40k – 80k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595084"/>
                  </a:ext>
                </a:extLst>
              </a:tr>
              <a:tr h="452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CRM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+mn-lt"/>
                        </a:rPr>
                        <a:t>$1,000 – $2,000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₹80k – 1.6 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68627"/>
                  </a:ext>
                </a:extLst>
              </a:tr>
              <a:tr h="452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Email automation 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+mn-lt"/>
                        </a:rPr>
                        <a:t>$500 – $1,000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₹40k – 80k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373451"/>
                  </a:ext>
                </a:extLst>
              </a:tr>
              <a:tr h="792597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A2P 10DLC Campaign Fee: Mandatory carrier fee for maintaining an active messaging use case.</a:t>
                      </a:r>
                    </a:p>
                  </a:txBody>
                  <a:tcPr marL="76200" marR="7620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$10 - $100</a:t>
                      </a:r>
                    </a:p>
                  </a:txBody>
                  <a:tcPr marL="76200" marR="7620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₹1K –11 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313750"/>
                  </a:ext>
                </a:extLst>
              </a:tr>
              <a:tr h="792597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PSTN / SIP </a:t>
                      </a:r>
                      <a:r>
                        <a:rPr lang="en-US" sz="1200" b="0" dirty="0" err="1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Trunking</a:t>
                      </a: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 Usage: Inbound and outbound audio streaming via a </a:t>
                      </a:r>
                      <a:r>
                        <a:rPr lang="en-US" sz="1200" b="0" dirty="0" err="1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CPaaS</a:t>
                      </a: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 (e.g., azure CS,).</a:t>
                      </a:r>
                    </a:p>
                  </a:txBody>
                  <a:tcPr marL="76200" marR="7620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$300 – $400</a:t>
                      </a:r>
                    </a:p>
                  </a:txBody>
                  <a:tcPr marL="76200" marR="7620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₹30K – 40k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259588"/>
                  </a:ext>
                </a:extLst>
              </a:tr>
              <a:tr h="792597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Speech-to-Text (STT): Real-time streaming transcription of the caller's audio.</a:t>
                      </a:r>
                    </a:p>
                  </a:txBody>
                  <a:tcPr marL="76200" marR="7620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$100 – $150</a:t>
                      </a:r>
                    </a:p>
                  </a:txBody>
                  <a:tcPr marL="76200" marR="7620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₹10k – 18 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770553"/>
                  </a:ext>
                </a:extLst>
              </a:tr>
              <a:tr h="792597"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+mn-lt"/>
                        </a:rPr>
                        <a:t>Text-to-Speech (TTS): Neural voice synthesis with sub-second latency for the AI's spoken responses.</a:t>
                      </a:r>
                    </a:p>
                  </a:txBody>
                  <a:tcPr marL="76200" marR="7620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$100 – $150</a:t>
                      </a:r>
                    </a:p>
                  </a:txBody>
                  <a:tcPr marL="76200" marR="7620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₹10k – 15k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24577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F2A1129-4419-2D8C-0E03-96B3F83424F2}"/>
              </a:ext>
            </a:extLst>
          </p:cNvPr>
          <p:cNvSpPr/>
          <p:nvPr/>
        </p:nvSpPr>
        <p:spPr>
          <a:xfrm>
            <a:off x="870858" y="691402"/>
            <a:ext cx="7043057" cy="40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Phase-1 cost (Azure)</a:t>
            </a:r>
          </a:p>
        </p:txBody>
      </p:sp>
    </p:spTree>
    <p:extLst>
      <p:ext uri="{BB962C8B-B14F-4D97-AF65-F5344CB8AC3E}">
        <p14:creationId xmlns:p14="http://schemas.microsoft.com/office/powerpoint/2010/main" val="1313685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FA7E-AAA7-169C-A0D0-B992FE55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BA63AD-4E2F-C116-3792-CE26DCD6336F}"/>
              </a:ext>
            </a:extLst>
          </p:cNvPr>
          <p:cNvSpPr/>
          <p:nvPr/>
        </p:nvSpPr>
        <p:spPr>
          <a:xfrm>
            <a:off x="936172" y="111499"/>
            <a:ext cx="7043057" cy="40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Phase-2 cost (Azure)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E131A59-D377-85D7-11AD-55FCB79CB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949635"/>
              </p:ext>
            </p:extLst>
          </p:nvPr>
        </p:nvGraphicFramePr>
        <p:xfrm>
          <a:off x="936172" y="607423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19260792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9054076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68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Backend &amp; workflow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₹4,00,000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39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intent detection &amp; IVR flows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₹5,00,000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31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Appointment booking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179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QA &amp;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077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Project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362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Subtotal (People)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₹13,50,000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83834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5E63D40-60F2-24DF-45DD-DA0C3E299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317687"/>
              </p:ext>
            </p:extLst>
          </p:nvPr>
        </p:nvGraphicFramePr>
        <p:xfrm>
          <a:off x="1045029" y="3429000"/>
          <a:ext cx="8229600" cy="23774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76950494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6213905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017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OpenAI / model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314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Communication Services (IVR)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808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Scheduling integrations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091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Subtotal (Tech)</a:t>
                      </a:r>
                    </a:p>
                    <a:p>
                      <a:pPr>
                        <a:buNone/>
                      </a:pPr>
                      <a:endParaRPr lang="en-IN" b="1" dirty="0"/>
                    </a:p>
                    <a:p>
                      <a:pPr>
                        <a:buNone/>
                      </a:pPr>
                      <a:r>
                        <a:rPr lang="en-IN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Total Phase-2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₹2,75,000</a:t>
                      </a:r>
                    </a:p>
                    <a:p>
                      <a:pPr>
                        <a:buNone/>
                      </a:pPr>
                      <a:endParaRPr lang="en-IN" b="1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₹1</a:t>
                      </a:r>
                      <a:r>
                        <a:rPr lang="en-IN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6,50,000(approx.)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96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703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FE5118-BABB-0D63-7939-E8D89006F31C}"/>
              </a:ext>
            </a:extLst>
          </p:cNvPr>
          <p:cNvSpPr/>
          <p:nvPr/>
        </p:nvSpPr>
        <p:spPr>
          <a:xfrm>
            <a:off x="587829" y="283029"/>
            <a:ext cx="7043057" cy="40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Phase-3 cost (Azure)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55CCCD-CFC7-1780-6D55-A3C1A6C3D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101360"/>
              </p:ext>
            </p:extLst>
          </p:nvPr>
        </p:nvGraphicFramePr>
        <p:xfrm>
          <a:off x="762000" y="793642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69168155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1539795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119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Compliance IVR flow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₹4,00,000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256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 audit &amp; storage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₹3,00,000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494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 &amp; access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197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QA &amp; compliance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904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Documentation &amp; 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974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Subtotal (People)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₹11,50,000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046685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8AC57D-1DB8-FF8F-847D-C3CBC9E50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147666"/>
              </p:ext>
            </p:extLst>
          </p:nvPr>
        </p:nvGraphicFramePr>
        <p:xfrm>
          <a:off x="762000" y="3667238"/>
          <a:ext cx="8229600" cy="23774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8654014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1968132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708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Call recording (Azure Blob)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405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Transcription (Azure Speech)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788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Monitoring (Azure Monitor)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103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Subtotal (Tech)</a:t>
                      </a:r>
                    </a:p>
                    <a:p>
                      <a:pPr>
                        <a:buNone/>
                      </a:pPr>
                      <a:endParaRPr lang="en-IN" b="1" dirty="0"/>
                    </a:p>
                    <a:p>
                      <a:pPr>
                        <a:buNone/>
                      </a:pPr>
                      <a:r>
                        <a:rPr lang="en-IN" dirty="0"/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₹3,50,000</a:t>
                      </a:r>
                    </a:p>
                    <a:p>
                      <a:pPr>
                        <a:buNone/>
                      </a:pPr>
                      <a:endParaRPr lang="en-IN" b="1" dirty="0"/>
                    </a:p>
                    <a:p>
                      <a:pPr>
                        <a:buNone/>
                      </a:pPr>
                      <a:r>
                        <a:rPr lang="en-IN" dirty="0"/>
                        <a:t>₹15,00,000 (Approx.)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14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349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5211-E231-879C-1625-46186FCAE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142AC0-AB89-97FD-0587-D79A9008879C}"/>
              </a:ext>
            </a:extLst>
          </p:cNvPr>
          <p:cNvSpPr/>
          <p:nvPr/>
        </p:nvSpPr>
        <p:spPr>
          <a:xfrm>
            <a:off x="587829" y="283029"/>
            <a:ext cx="7043057" cy="40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Phase-4 cost (Azure)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EE60EF-6A47-FAA8-057F-697CD8AEF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377217"/>
              </p:ext>
            </p:extLst>
          </p:nvPr>
        </p:nvGraphicFramePr>
        <p:xfrm>
          <a:off x="587829" y="817982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13503475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393506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072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 &amp; workflow 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₹5,00,000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265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Payment gateway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₹3,00,000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363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Logistics &amp; tracking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₹3,00,000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896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Admin dashboards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895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QA &amp; UAT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765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Project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369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Subtotal (People)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₹16,00,000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2909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AE3B19-8789-6435-904C-9A0200C6D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06817"/>
              </p:ext>
            </p:extLst>
          </p:nvPr>
        </p:nvGraphicFramePr>
        <p:xfrm>
          <a:off x="674914" y="3870642"/>
          <a:ext cx="8229600" cy="27432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74003123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2556157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814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Payment gateway setup &amp;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258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Logistics API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188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Notifications (Logic Apps)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709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Additional Azure infra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78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Subtotal (Tech)</a:t>
                      </a:r>
                    </a:p>
                    <a:p>
                      <a:pPr>
                        <a:buNone/>
                      </a:pPr>
                      <a:endParaRPr lang="en-IN" b="1" dirty="0"/>
                    </a:p>
                    <a:p>
                      <a:pPr>
                        <a:buNone/>
                      </a:pPr>
                      <a:r>
                        <a:rPr lang="en-IN" dirty="0"/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₹4,00,000</a:t>
                      </a:r>
                    </a:p>
                    <a:p>
                      <a:pPr>
                        <a:buNone/>
                      </a:pPr>
                      <a:endParaRPr lang="en-IN" b="1" dirty="0"/>
                    </a:p>
                    <a:p>
                      <a:pPr>
                        <a:buNone/>
                      </a:pPr>
                      <a:r>
                        <a:rPr lang="en-IN" dirty="0"/>
                        <a:t>₹20,00,000 (Approx.)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64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805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5211-E231-879C-1625-46186FCAE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142AC0-AB89-97FD-0587-D79A9008879C}"/>
              </a:ext>
            </a:extLst>
          </p:cNvPr>
          <p:cNvSpPr/>
          <p:nvPr/>
        </p:nvSpPr>
        <p:spPr>
          <a:xfrm>
            <a:off x="587829" y="283029"/>
            <a:ext cx="7043057" cy="40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Monthly </a:t>
            </a:r>
            <a:r>
              <a:rPr lang="en-IN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Opex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break down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8B9D3EC-EE8F-C1E2-86A9-079523CF5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74246"/>
              </p:ext>
            </p:extLst>
          </p:nvPr>
        </p:nvGraphicFramePr>
        <p:xfrm>
          <a:off x="193637" y="855495"/>
          <a:ext cx="8724452" cy="5212237"/>
        </p:xfrm>
        <a:graphic>
          <a:graphicData uri="http://schemas.openxmlformats.org/drawingml/2006/table">
            <a:tbl>
              <a:tblPr/>
              <a:tblGrid>
                <a:gridCol w="2181113">
                  <a:extLst>
                    <a:ext uri="{9D8B030D-6E8A-4147-A177-3AD203B41FA5}">
                      <a16:colId xmlns:a16="http://schemas.microsoft.com/office/drawing/2014/main" val="715907027"/>
                    </a:ext>
                  </a:extLst>
                </a:gridCol>
                <a:gridCol w="2181113">
                  <a:extLst>
                    <a:ext uri="{9D8B030D-6E8A-4147-A177-3AD203B41FA5}">
                      <a16:colId xmlns:a16="http://schemas.microsoft.com/office/drawing/2014/main" val="3181651822"/>
                    </a:ext>
                  </a:extLst>
                </a:gridCol>
                <a:gridCol w="2181113">
                  <a:extLst>
                    <a:ext uri="{9D8B030D-6E8A-4147-A177-3AD203B41FA5}">
                      <a16:colId xmlns:a16="http://schemas.microsoft.com/office/drawing/2014/main" val="1881753430"/>
                    </a:ext>
                  </a:extLst>
                </a:gridCol>
                <a:gridCol w="2181113">
                  <a:extLst>
                    <a:ext uri="{9D8B030D-6E8A-4147-A177-3AD203B41FA5}">
                      <a16:colId xmlns:a16="http://schemas.microsoft.com/office/drawing/2014/main" val="2814694398"/>
                    </a:ext>
                  </a:extLst>
                </a:gridCol>
              </a:tblGrid>
              <a:tr h="362348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Month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Project Phase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OPEX: Telecom &amp; AI Usage (USD)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Phase Description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992234"/>
                  </a:ext>
                </a:extLst>
              </a:tr>
              <a:tr h="864061">
                <a:tc>
                  <a:txBody>
                    <a:bodyPr/>
                    <a:lstStyle/>
                    <a:p>
                      <a:r>
                        <a:rPr lang="en-US" sz="1200" dirty="0"/>
                        <a:t>Month 1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Architecture &amp; Foundation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Initial dev sprint, cloud infra setup, and one-time A2P 10DLC registration fee. Base numbers provisioned.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53977"/>
                  </a:ext>
                </a:extLst>
              </a:tr>
              <a:tr h="780442">
                <a:tc>
                  <a:txBody>
                    <a:bodyPr/>
                    <a:lstStyle/>
                    <a:p>
                      <a:r>
                        <a:rPr lang="en-US" sz="1200"/>
                        <a:t>Month 2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Core AI &amp; Dialogue Engineering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100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Heavy engineering sprints. Minimal OPEX for developer sandbox API testing (STT, TTS, LLM).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963761"/>
                  </a:ext>
                </a:extLst>
              </a:tr>
              <a:tr h="780442">
                <a:tc>
                  <a:txBody>
                    <a:bodyPr/>
                    <a:lstStyle/>
                    <a:p>
                      <a:r>
                        <a:rPr lang="en-US" sz="1200"/>
                        <a:t>Month 3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CRM / Backend Integration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150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Connecting agentic logic to databases. API usage increases slightly for integration testing.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7422417"/>
                  </a:ext>
                </a:extLst>
              </a:tr>
              <a:tr h="780442">
                <a:tc>
                  <a:txBody>
                    <a:bodyPr/>
                    <a:lstStyle/>
                    <a:p>
                      <a:r>
                        <a:rPr lang="en-US" sz="1200"/>
                        <a:t>Month 4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UAT &amp; Soft Launch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1,200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Dev scales down to bug fixes. Soft launch to pilot group causes first spike in live voice/AI usage.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68983"/>
                  </a:ext>
                </a:extLst>
              </a:tr>
              <a:tr h="947679">
                <a:tc>
                  <a:txBody>
                    <a:bodyPr/>
                    <a:lstStyle/>
                    <a:p>
                      <a:r>
                        <a:rPr lang="en-US" sz="1200"/>
                        <a:t>Month 5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Production Go-Live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3,500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Final code freeze and handover. System scales to full 500 users (approx. 50k minutes), hitting standard run-rate.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036008"/>
                  </a:ext>
                </a:extLst>
              </a:tr>
              <a:tr h="696823">
                <a:tc>
                  <a:txBody>
                    <a:bodyPr/>
                    <a:lstStyle/>
                    <a:p>
                      <a:r>
                        <a:rPr lang="en-US" sz="1200"/>
                        <a:t>TOTAL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5-Month Cumulative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5,000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Total project cost from day one through the end of the first fully operational month.</a:t>
                      </a:r>
                    </a:p>
                  </a:txBody>
                  <a:tcPr marL="24203" marR="24203" marT="12102" marB="12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45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658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AI IVR automation on Azure on Azure</a:t>
            </a:r>
          </a:p>
          <a:p>
            <a:pPr lvl="1"/>
            <a:r>
              <a:t>Enterprise-grade cloud &amp; telephony with Azure Communication Services with Azure Communication Services</a:t>
            </a:r>
          </a:p>
          <a:p>
            <a:pPr lvl="1"/>
            <a:r>
              <a:t>Scalable, secure, future-ready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850</Words>
  <Application>Microsoft Macintosh PowerPoint</Application>
  <PresentationFormat>On-screen Show (4:3)</PresentationFormat>
  <Paragraphs>194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Roboto</vt:lpstr>
      <vt:lpstr>Office Theme</vt:lpstr>
      <vt:lpstr>AI-Powered IVR Automation Platform</vt:lpstr>
      <vt:lpstr>Project Objective</vt:lpstr>
      <vt:lpstr>Customer Journey Automation</vt:lpstr>
      <vt:lpstr>Lead Generation Funnel</vt:lpstr>
      <vt:lpstr>AI IVR Call Flow</vt:lpstr>
      <vt:lpstr>Modern IVR Architecture</vt:lpstr>
      <vt:lpstr>Cloud Telephony Architecture</vt:lpstr>
      <vt:lpstr>Azure Communication Services Routing</vt:lpstr>
      <vt:lpstr>Azure 3-Tier Architecture</vt:lpstr>
      <vt:lpstr>Microservices Architecture</vt:lpstr>
      <vt:lpstr>CI/CD Pipeline </vt:lpstr>
      <vt:lpstr>Phase-wise Automation</vt:lpstr>
      <vt:lpstr>Security &amp; Compliance</vt:lpstr>
      <vt:lpstr>Executive Cost Summary (INR) – Azure – Azure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IVR Automation Platform</dc:title>
  <dc:subject/>
  <dc:creator>Kirti Gourav</dc:creator>
  <cp:keywords/>
  <dc:description>generated using python-pptx</dc:description>
  <cp:lastModifiedBy>shivam rana</cp:lastModifiedBy>
  <cp:revision>5</cp:revision>
  <dcterms:created xsi:type="dcterms:W3CDTF">2013-01-27T09:14:16Z</dcterms:created>
  <dcterms:modified xsi:type="dcterms:W3CDTF">2026-02-24T13:11:19Z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2026-02-11T12:01:21Z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6669f54f-a511-45fc-a7d6-8903c025735f</vt:lpwstr>
  </property>
  <property fmtid="{D5CDD505-2E9C-101B-9397-08002B2CF9AE}" pid="8" name="MSIP_Label_b0d5c4f4-7a29-4385-b7a5-afbe2154ae6f_ContentBits">
    <vt:lpwstr>0</vt:lpwstr>
  </property>
  <property fmtid="{D5CDD505-2E9C-101B-9397-08002B2CF9AE}" pid="9" name="MSIP_Label_b0d5c4f4-7a29-4385-b7a5-afbe2154ae6f_Tag">
    <vt:lpwstr>50, 3, 0, 1</vt:lpwstr>
  </property>
</Properties>
</file>